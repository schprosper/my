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CC785C">
              <a:alpha val="15000"/>
            </a:srgbClr>
          </a:solidFill>
          <a:ln w="12700">
            <a:solidFill>
              <a:srgbClr val="CC785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926080"/>
            <a:ext cx="1828800" cy="1828800"/>
          </a:xfrm>
          <a:prstGeom prst="ellipse">
            <a:avLst/>
          </a:prstGeom>
          <a:solidFill>
            <a:srgbClr val="E8A87C">
              <a:alpha val="20000"/>
            </a:srgbClr>
          </a:solidFill>
          <a:ln w="12700">
            <a:solidFill>
              <a:srgbClr val="E8A87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基于人工智能的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图像处理技术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E8A8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课程项目报告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4114800" cy="36576"/>
          </a:xfrm>
          <a:prstGeom prst="rect">
            <a:avLst/>
          </a:prstGeom>
          <a:solidFill>
            <a:srgbClr val="CC785C">
              <a:alpha val="60000"/>
            </a:srgbClr>
          </a:solidFill>
          <a:ln w="12700">
            <a:solidFill>
              <a:srgbClr val="CC785C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信息与软件工程学院  |  2025-2026-2学期  |  指导教师：甘涛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蓝雅然（组长）  ·  田小溪  ·  孙诚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1417320"/>
          </a:xfrm>
          <a:prstGeom prst="rect">
            <a:avLst/>
          </a:prstGeom>
          <a:solidFill>
            <a:srgbClr val="CC785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98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D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任务介绍  ·  项目分工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41732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98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7784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车牌识别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OpenCV流程  ·  SVM定位  ·  模板匹配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840480" cy="141732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2990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图像分类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鸢尾花  ·  猫狗分类  ·  MNIST识别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840480" cy="141732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77840" y="2990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结果汇总  ·  收获与体会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347472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54864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任务一：车牌识别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OpenCV图像处理全流程
</a:t>
            </a:r>
            <a:pPr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形态学处理 + SVM定位
</a:t>
            </a:r>
            <a:pPr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模板匹配字符识别
</a:t>
            </a:r>
            <a:pPr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YOLOv8扩展探索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47472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4023360" cy="54864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任务二：图像分类（三实验）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b="1" dirty="0">
                <a:solidFill>
                  <a:srgbClr val="4A9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</a:t>
            </a:r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鸢尾花三分类（BP神经网络）
</a:t>
            </a:r>
            <a:pPr indent="0" marL="0">
              <a:lnSpc>
                <a:spcPct val="160000"/>
              </a:lnSpc>
              <a:buNone/>
            </a:pPr>
            <a:r>
              <a:rPr lang="en-US" sz="1350" b="1" dirty="0">
                <a:solidFill>
                  <a:srgbClr val="4A9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</a:t>
            </a:r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猫狗二分类（VGG16迁移学习）
</a:t>
            </a:r>
            <a:pPr indent="0" marL="0">
              <a:lnSpc>
                <a:spcPct val="160000"/>
              </a:lnSpc>
              <a:buNone/>
            </a:pPr>
            <a:r>
              <a:rPr lang="en-US" sz="1350" b="1" dirty="0">
                <a:solidFill>
                  <a:srgbClr val="4A9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</a:t>
            </a:r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MNIST手写识别（CNN）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0916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0916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99.2%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MNIST准确率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93.75%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猫狗准确率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96.67%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鸢尾花准确率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车牌识别——系统流程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2004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1078992" cy="1005840"/>
          </a:xfrm>
          <a:prstGeom prst="rect">
            <a:avLst/>
          </a:prstGeom>
          <a:solidFill>
            <a:srgbClr val="EFEC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24712"/>
            <a:ext cx="10789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原始图像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53312" y="1536192"/>
            <a:ext cx="13716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1051560"/>
            <a:ext cx="1078992" cy="1005840"/>
          </a:xfrm>
          <a:prstGeom prst="rect">
            <a:avLst/>
          </a:prstGeom>
          <a:solidFill>
            <a:srgbClr val="EFEC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0472" y="1124712"/>
            <a:ext cx="10789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🔲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灰度+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高斯去噪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9464" y="1536192"/>
            <a:ext cx="13716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06624" y="1051560"/>
            <a:ext cx="1078992" cy="1005840"/>
          </a:xfrm>
          <a:prstGeom prst="rect">
            <a:avLst/>
          </a:prstGeom>
          <a:solidFill>
            <a:srgbClr val="EFEC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1124712"/>
            <a:ext cx="10789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Sobel边缘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+大津阈值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536192"/>
            <a:ext cx="13716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22776" y="1051560"/>
            <a:ext cx="1078992" cy="1005840"/>
          </a:xfrm>
          <a:prstGeom prst="rect">
            <a:avLst/>
          </a:prstGeom>
          <a:solidFill>
            <a:srgbClr val="EFEC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22776" y="1124712"/>
            <a:ext cx="10789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⬛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形态学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01768" y="1536192"/>
            <a:ext cx="13716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38928" y="1051560"/>
            <a:ext cx="1078992" cy="1005840"/>
          </a:xfrm>
          <a:prstGeom prst="rect">
            <a:avLst/>
          </a:prstGeom>
          <a:solidFill>
            <a:srgbClr val="EFEC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124712"/>
            <a:ext cx="10789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车牌判定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536192"/>
            <a:ext cx="13716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051560"/>
            <a:ext cx="1078992" cy="1005840"/>
          </a:xfrm>
          <a:prstGeom prst="rect">
            <a:avLst/>
          </a:prstGeom>
          <a:solidFill>
            <a:srgbClr val="EFEC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124712"/>
            <a:ext cx="10789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🔤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字符分割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+模板匹配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34072" y="1536192"/>
            <a:ext cx="13716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71232" y="1051560"/>
            <a:ext cx="1078992" cy="10058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1124712"/>
            <a:ext cx="10789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识别结果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津GUA211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两种定位方案对比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4023360" cy="1783080"/>
          </a:xfrm>
          <a:prstGeom prst="rect">
            <a:avLst/>
          </a:prstGeom>
          <a:solidFill>
            <a:srgbClr val="EFEC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方案一：基础版（宽高比）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127248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简单快速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复杂背景易误判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宽度 &gt; 3倍高度 → 判定为车牌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2697480"/>
            <a:ext cx="4023360" cy="1783080"/>
          </a:xfrm>
          <a:prstGeom prst="rect">
            <a:avLst/>
          </a:prstGeom>
          <a:solidFill>
            <a:srgbClr val="FFF0EB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方案二：SVM版（推荐）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127248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缩放至 147×40 提取特征向量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预训练SVM二分类判定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对蓝牌定位更准确，误检率低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车牌识别——实现结果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2004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核心代码片段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931920" cy="1828800"/>
          </a:xfrm>
          <a:prstGeom prst="rect">
            <a:avLst/>
          </a:prstGeom>
          <a:solidFill>
            <a:srgbClr val="2D2D3A"/>
          </a:solidFill>
          <a:ln w="12700">
            <a:solidFill>
              <a:srgbClr val="2D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Sobel_x = cv2.Sobel(image, cv2.CV_16S, 1, 0)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ret, image = cv2.threshold(absX, 0, 255, cv2.THRESH_OTSU)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kernelX = cv2.getStructuringElement(cv2.MORPH_RECT, (17,5))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= cv2.morphologyEx(image, cv2.MORPH_CLOSE, kernelX)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SVM 判定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cv2.resize(img, (147, 40))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img.reshape(1, -1).astype(np.float32)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classifier.predict(img) == 1: return plate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各步骤效果总结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71600"/>
          <a:ext cx="41148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处理步骤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7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78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灰度+高斯去噪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去除颗粒感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Sobel+大津阈值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字符区域高亮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闭运算(17×5)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字符连通为整体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SVM判定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替代宽高比规则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模板匹配识别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覆盖68个字符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291840"/>
            <a:ext cx="8138160" cy="14173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 识别结果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3730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GUA.jpg → 津 G · UA211（蓝牌）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ADB.jpg → 皖 A · DB4566（绿牌新能源）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37307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8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YOLOv8 扩展探索（了解现代方案）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图像分类——三项实验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2004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743200" cy="374904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鸢尾花三分类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模型：BP神经网络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96.67%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测试准确率  |  Epoch: 80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035808"/>
            <a:ext cx="2560320" cy="27432"/>
          </a:xfrm>
          <a:prstGeom prst="rect">
            <a:avLst/>
          </a:prstGeom>
          <a:solidFill>
            <a:srgbClr val="4A9B7F">
              <a:alpha val="40000"/>
            </a:srgbClr>
          </a:solidFill>
          <a:ln w="12700">
            <a:solidFill>
              <a:srgbClr val="4A9B7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127248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4特征 → 20隐藏节点 → 3类输出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iris0→iris3四版本递进设计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引入DataLoader、数据集划分、GPU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43200" cy="374904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97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猫狗二分类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模型：预训练VGG16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93.75%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33756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测试准确率  |  Epoch: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035808"/>
            <a:ext cx="2560320" cy="27432"/>
          </a:xfrm>
          <a:prstGeom prst="rect">
            <a:avLst/>
          </a:prstGeom>
          <a:solidFill>
            <a:srgbClr val="CC785C">
              <a:alpha val="40000"/>
            </a:srgbClr>
          </a:solidFill>
          <a:ln w="12700">
            <a:solidFill>
              <a:srgbClr val="CC785C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127248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三方案演进对比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浅层CNN(失败) → 随机VGG16(失败)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预训练VGG16+迁移学习(成功)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005840"/>
            <a:ext cx="2743200" cy="374904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097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MNIST手写识别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6364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模型：CNN+Dropout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6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99.20%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6364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测试准确率  |  Epoch: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035808"/>
            <a:ext cx="2560320" cy="27432"/>
          </a:xfrm>
          <a:prstGeom prst="rect">
            <a:avLst/>
          </a:prstGeom>
          <a:solidFill>
            <a:srgbClr val="5B6EAE">
              <a:alpha val="40000"/>
            </a:srgbClr>
          </a:solidFill>
          <a:ln w="12700">
            <a:solidFill>
              <a:srgbClr val="5B6EAE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127248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Conv+ReLU+MaxPool特征提取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Dropout防过拟合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60,000张训练图像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猫狗分类——迁移学习演进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2004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2331720"/>
          </a:xfrm>
          <a:prstGeom prst="rect">
            <a:avLst/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失败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catdog_0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浅层CNN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28×28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图像压缩过度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关键特征大量丢失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≈ 50%（随机基准）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2331720"/>
          </a:xfrm>
          <a:prstGeom prst="rect">
            <a:avLst/>
          </a:prstGeom>
          <a:solidFill>
            <a:srgbClr val="FFF5F5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51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失败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catdog_1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随机VGG16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224×224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无预训练权重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冻结后分类头无法收敛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训练损失不下降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51760" cy="2331720"/>
          </a:xfrm>
          <a:prstGeom prst="rect">
            <a:avLst/>
          </a:prstGeom>
          <a:solidFill>
            <a:srgbClr val="F0FAF5"/>
          </a:solidFill>
          <a:ln w="19050">
            <a:solidFill>
              <a:srgbClr val="4A9B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051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成功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catdog_2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预训练VGG16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224×224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240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ImageNet权重迁移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Dropout防过拟合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验证集准确率 &gt; 93%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4564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catdog_2 训练结果（5 Epochs）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22192"/>
          <a:ext cx="5029200" cy="1078992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Epoch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 Loss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 Loss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 Acc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 Acc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0.5832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0.4217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71.25%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82.50%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3/5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0.2873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0.2564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88.75%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91.25%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0.1987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0.2143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93.75%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93.75%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669280" y="3429000"/>
            <a:ext cx="3017520" cy="150876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3493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核心洞察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806440" y="38587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预训练权重才是迁移学习的关键，不是搭个VGG16架子就够了。5个Epoch达到93%印证了这一点。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MNIST——CNN实现与结果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2004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网络结构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1261872" cy="914400"/>
          </a:xfrm>
          <a:prstGeom prst="rect">
            <a:avLst/>
          </a:prstGeom>
          <a:solidFill>
            <a:srgbClr val="5B6E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Conv2d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1→64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36192" y="1801368"/>
            <a:ext cx="155448" cy="45720"/>
          </a:xfrm>
          <a:prstGeom prst="rect">
            <a:avLst/>
          </a:prstGeom>
          <a:solidFill>
            <a:srgbClr val="6B6B7A"/>
          </a:solidFill>
          <a:ln w="12700">
            <a:solidFill>
              <a:srgbClr val="6B6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389888"/>
            <a:ext cx="1261872" cy="914400"/>
          </a:xfrm>
          <a:prstGeom prst="rect">
            <a:avLst/>
          </a:prstGeom>
          <a:solidFill>
            <a:srgbClr val="5B6E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417320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ReLU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Conv2d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64→128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53512" y="1801368"/>
            <a:ext cx="155448" cy="45720"/>
          </a:xfrm>
          <a:prstGeom prst="rect">
            <a:avLst/>
          </a:prstGeom>
          <a:solidFill>
            <a:srgbClr val="6B6B7A"/>
          </a:solidFill>
          <a:ln w="12700">
            <a:solidFill>
              <a:srgbClr val="6B6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389888"/>
            <a:ext cx="1261872" cy="914400"/>
          </a:xfrm>
          <a:prstGeom prst="rect">
            <a:avLst/>
          </a:prstGeom>
          <a:solidFill>
            <a:srgbClr val="8E6A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417320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MaxPool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1801368"/>
            <a:ext cx="155448" cy="45720"/>
          </a:xfrm>
          <a:prstGeom prst="rect">
            <a:avLst/>
          </a:prstGeom>
          <a:solidFill>
            <a:srgbClr val="6B6B7A"/>
          </a:solidFill>
          <a:ln w="12700">
            <a:solidFill>
              <a:srgbClr val="6B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389888"/>
            <a:ext cx="1261872" cy="914400"/>
          </a:xfrm>
          <a:prstGeom prst="rect">
            <a:avLst/>
          </a:prstGeom>
          <a:solidFill>
            <a:srgbClr val="CC78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417320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25088→1024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88152" y="1801368"/>
            <a:ext cx="155448" cy="45720"/>
          </a:xfrm>
          <a:prstGeom prst="rect">
            <a:avLst/>
          </a:prstGeom>
          <a:solidFill>
            <a:srgbClr val="6B6B7A"/>
          </a:solidFill>
          <a:ln w="12700">
            <a:solidFill>
              <a:srgbClr val="6B6B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389888"/>
            <a:ext cx="1261872" cy="914400"/>
          </a:xfrm>
          <a:prstGeom prst="rect">
            <a:avLst/>
          </a:prstGeom>
          <a:solidFill>
            <a:srgbClr val="C078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417320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Dropout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+ReLU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05472" y="1801368"/>
            <a:ext cx="155448" cy="45720"/>
          </a:xfrm>
          <a:prstGeom prst="rect">
            <a:avLst/>
          </a:prstGeom>
          <a:solidFill>
            <a:srgbClr val="6B6B7A"/>
          </a:solidFill>
          <a:ln w="12700">
            <a:solidFill>
              <a:srgbClr val="6B6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1389888"/>
            <a:ext cx="1261872" cy="914400"/>
          </a:xfrm>
          <a:prstGeom prst="rect">
            <a:avLst/>
          </a:prstGeom>
          <a:solidFill>
            <a:srgbClr val="4A9B7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417320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1024→10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4688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训练结果（5 Epochs）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5029200" cy="1078992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Epoch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 Loss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 Acc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E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 Acc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EAE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0.1823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95.12%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98.45%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3/5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98.75%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99.01%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0.0253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99.32%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99.20%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760720" y="2331720"/>
            <a:ext cx="2926080" cy="2423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760720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99.2%</a:t>
            </a:r>
            <a:endParaRPr lang="en-US" sz="4800" dirty="0"/>
          </a:p>
        </p:txBody>
      </p:sp>
      <p:sp>
        <p:nvSpPr>
          <p:cNvPr id="26" name="Text 23"/>
          <p:cNvSpPr/>
          <p:nvPr/>
        </p:nvSpPr>
        <p:spPr>
          <a:xfrm>
            <a:off x="576072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最终测试准确率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80644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超越传统SVM方法（~98%）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Dropout有效控制过拟合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项目总结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2004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16459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车牌识别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OpenCV + SVM + 模板匹配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成功识别2张测试图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鸢尾花分类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BP神经网络（PyTorch）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~96.67%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猫狗分类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预训练VGG16 迁移学习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~93.75%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MNIST识别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 + MaxPool + Dropout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~99.20%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9B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主要收获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3154680"/>
            <a:ext cx="2651760" cy="164592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 图像处理工程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621024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每个参数都有讲究——高斯核、形态学核的形状和尺寸，差一点效果就差很多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3552" y="3154680"/>
            <a:ext cx="2651760" cy="164592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64992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 迁移学习本质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64992" y="3621024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预训练权重才是关键，不是搭架子就叫迁移学习，5个Epoch到93%印证了这一点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81344" y="3154680"/>
            <a:ext cx="2651760" cy="1645920"/>
          </a:xfrm>
          <a:prstGeom prst="rect">
            <a:avLst/>
          </a:prstGeom>
          <a:solidFill>
            <a:srgbClr val="EFECE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72784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 工程化实践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72784" y="3621024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DataLoader、GPU迁移、num_workers保护……每个踩坑都是真实的工程经验积累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CC785C">
              <a:alpha val="12000"/>
            </a:srgbClr>
          </a:solidFill>
          <a:ln w="12700">
            <a:solidFill>
              <a:srgbClr val="CC785C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CC785C">
              <a:alpha val="60000"/>
            </a:srgbClr>
          </a:solidFill>
          <a:ln w="12700">
            <a:solidFill>
              <a:srgbClr val="CC785C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基于人工智能的图像处理技术  |  信息与软件工程学院  |  2025-2026-2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蓝雅然  ·  田小溪  ·  孙诚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基于人工智能的图像处理技术——课程项目报告</dc:title>
  <dc:subject>PptxGenJS Presentation</dc:subject>
  <dc:creator>PptxGenJS</dc:creator>
  <cp:lastModifiedBy>PptxGenJS</cp:lastModifiedBy>
  <cp:revision>1</cp:revision>
  <dcterms:created xsi:type="dcterms:W3CDTF">2026-04-16T13:46:44Z</dcterms:created>
  <dcterms:modified xsi:type="dcterms:W3CDTF">2026-04-16T13:46:44Z</dcterms:modified>
</cp:coreProperties>
</file>